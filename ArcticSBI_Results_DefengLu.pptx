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1"/>
  </p:notesMasterIdLst>
  <p:sldIdLst>
    <p:sldId id="256" r:id="rId2"/>
    <p:sldId id="257" r:id="rId3"/>
    <p:sldId id="262" r:id="rId4"/>
    <p:sldId id="263" r:id="rId5"/>
    <p:sldId id="266" r:id="rId6"/>
    <p:sldId id="260" r:id="rId7"/>
    <p:sldId id="261" r:id="rId8"/>
    <p:sldId id="268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00887-73D3-47B6-BB14-4A78EBBE82D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76186-D243-494A-B7E1-BE9FF3C4C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4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8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4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4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3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6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4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3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0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4367-9FAE-DB19-19F3-1BAAAA6DE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525" y="1122363"/>
            <a:ext cx="9153525" cy="2621154"/>
          </a:xfrm>
        </p:spPr>
        <p:txBody>
          <a:bodyPr/>
          <a:lstStyle/>
          <a:p>
            <a:r>
              <a:rPr lang="en-CA" dirty="0"/>
              <a:t>SBI in Arctic Wintertime Radiosonde Data Analysis Results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A8D10-3E2E-C44D-7691-7924558139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Defeng 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7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C4B9-C586-AA94-E2C0-5E63EE04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165063"/>
          </a:xfrm>
        </p:spPr>
        <p:txBody>
          <a:bodyPr>
            <a:normAutofit/>
          </a:bodyPr>
          <a:lstStyle/>
          <a:p>
            <a:r>
              <a:rPr lang="en-CA" dirty="0"/>
              <a:t>Site Investigated: 71082 Alert UA, NU, CA</a:t>
            </a:r>
            <a:br>
              <a:rPr lang="en-CA" dirty="0"/>
            </a:br>
            <a:r>
              <a:rPr lang="en-CA" sz="2500" dirty="0"/>
              <a:t>Latitude: 82.493 Longitude: -62.344</a:t>
            </a:r>
            <a:br>
              <a:rPr lang="en-CA" sz="2500" dirty="0"/>
            </a:br>
            <a:r>
              <a:rPr lang="en-CA" sz="2500" dirty="0"/>
              <a:t>00UTC = 8PM local</a:t>
            </a:r>
            <a:br>
              <a:rPr lang="en-CA" dirty="0"/>
            </a:br>
            <a:r>
              <a:rPr lang="en-CA" sz="2500" dirty="0"/>
              <a:t>12UTC = 8AM local </a:t>
            </a:r>
            <a:r>
              <a:rPr lang="en-CA" sz="2500" dirty="0">
                <a:sym typeface="Wingdings" panose="05000000000000000000" pitchFamily="2" charset="2"/>
              </a:rPr>
              <a:t>Close to theoretical max SBI time of 6AM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0659B-9E96-FF08-35C2-D62F31D30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880852"/>
            <a:ext cx="10653579" cy="342850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Parameter investigated:</a:t>
            </a:r>
          </a:p>
          <a:p>
            <a:r>
              <a:rPr lang="en-CA" dirty="0"/>
              <a:t>SBI Frequency, Strength, Depth, Intensity/Lapse rate</a:t>
            </a:r>
          </a:p>
          <a:p>
            <a:r>
              <a:rPr lang="en-CA" dirty="0"/>
              <a:t>Trends for above indices</a:t>
            </a:r>
          </a:p>
          <a:p>
            <a:r>
              <a:rPr lang="en-CA" dirty="0"/>
              <a:t>Inversion top height and temperature</a:t>
            </a:r>
          </a:p>
          <a:p>
            <a:r>
              <a:rPr lang="en-CA" dirty="0"/>
              <a:t>Temperature Trend vs pressure</a:t>
            </a:r>
          </a:p>
          <a:p>
            <a:r>
              <a:rPr lang="en-CA" dirty="0"/>
              <a:t>Diurnal Frequency, Strength, Depth (12UTC-00UTC)</a:t>
            </a:r>
          </a:p>
          <a:p>
            <a:r>
              <a:rPr lang="en-CA" dirty="0"/>
              <a:t>SBI</a:t>
            </a:r>
            <a:r>
              <a:rPr lang="en-CA" baseline="-25000" dirty="0"/>
              <a:t> </a:t>
            </a:r>
            <a:r>
              <a:rPr lang="en-CA" dirty="0"/>
              <a:t>Impact </a:t>
            </a:r>
          </a:p>
        </p:txBody>
      </p:sp>
    </p:spTree>
    <p:extLst>
      <p:ext uri="{BB962C8B-B14F-4D97-AF65-F5344CB8AC3E}">
        <p14:creationId xmlns:p14="http://schemas.microsoft.com/office/powerpoint/2010/main" val="225655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DBF579-A432-9679-7B88-78C64E328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468" y="3508375"/>
            <a:ext cx="6155531" cy="328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05A00-0F8F-54B8-EBAD-67145A519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467" y="146049"/>
            <a:ext cx="6155532" cy="3282951"/>
          </a:xfrm>
          <a:prstGeom prst="rect">
            <a:avLst/>
          </a:prstGeom>
        </p:spPr>
      </p:pic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B74B17DA-5C21-57C9-A744-2A7DC82F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58" y="2212848"/>
            <a:ext cx="5237577" cy="4096512"/>
          </a:xfrm>
        </p:spPr>
        <p:txBody>
          <a:bodyPr>
            <a:normAutofit/>
          </a:bodyPr>
          <a:lstStyle/>
          <a:p>
            <a:r>
              <a:rPr lang="en-CA" sz="1800" dirty="0"/>
              <a:t>Depth: Lots of  high SBI depth going to 1.5km</a:t>
            </a:r>
          </a:p>
          <a:p>
            <a:r>
              <a:rPr lang="en-US" sz="1800" dirty="0"/>
              <a:t>Strength: On average in the 2-8K except for some specific years where their JAN and FEB have </a:t>
            </a:r>
            <a:r>
              <a:rPr lang="en-US" sz="1800" dirty="0" err="1"/>
              <a:t>SBI</a:t>
            </a:r>
            <a:r>
              <a:rPr lang="en-US" sz="1800" baseline="-25000" dirty="0" err="1"/>
              <a:t>strength</a:t>
            </a:r>
            <a:r>
              <a:rPr lang="en-US" sz="1800" dirty="0"/>
              <a:t> going up to 10K and 15K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B39E4C0-1998-7AA7-BD2A-68A70CEA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603250"/>
            <a:ext cx="5238750" cy="1527175"/>
          </a:xfrm>
        </p:spPr>
        <p:txBody>
          <a:bodyPr/>
          <a:lstStyle/>
          <a:p>
            <a:r>
              <a:rPr lang="en-CA" dirty="0"/>
              <a:t>SBI Main Parameters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6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6665B486-CDF8-BB21-9E46-FD337BDE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58" y="2212848"/>
            <a:ext cx="5237577" cy="4096512"/>
          </a:xfrm>
        </p:spPr>
        <p:txBody>
          <a:bodyPr>
            <a:normAutofit/>
          </a:bodyPr>
          <a:lstStyle/>
          <a:p>
            <a:r>
              <a:rPr lang="en-CA" sz="1800" dirty="0"/>
              <a:t>Intensity: On average below Environmental Lapse Rate (ELR = 0.0065 k/m) at around 0.003-0.006k/m so we have rather weak inversions ?</a:t>
            </a:r>
          </a:p>
          <a:p>
            <a:r>
              <a:rPr lang="en-CA" sz="1800" dirty="0"/>
              <a:t>Frequency: On average we have around 0.7-0.8 SBI frequency which translates to about 21-24days/per month except for DEC12 where it looks more like 0.85 so there’s SBI most of the time in the Winter months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884012-9B73-29FD-1586-32B7A3DE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621" y="321241"/>
            <a:ext cx="6051379" cy="322235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D1623C-CCEB-D20E-361B-112B39485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43600"/>
            <a:ext cx="6051378" cy="322235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BA82BC0-F530-29BD-FF25-B4E62F65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603250"/>
            <a:ext cx="5238750" cy="1527175"/>
          </a:xfrm>
        </p:spPr>
        <p:txBody>
          <a:bodyPr/>
          <a:lstStyle/>
          <a:p>
            <a:r>
              <a:rPr lang="en-CA" dirty="0"/>
              <a:t>SBI Main Parameters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32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5F68-7296-E043-0FB7-33F1838D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D1BAD8F-FAC7-E92A-366B-B939D6745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350" y="3653216"/>
            <a:ext cx="5860333" cy="3125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55611E0-13AE-681F-FBAE-2976F877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603250"/>
            <a:ext cx="5329391" cy="1527175"/>
          </a:xfrm>
        </p:spPr>
        <p:txBody>
          <a:bodyPr/>
          <a:lstStyle/>
          <a:p>
            <a:r>
              <a:rPr lang="en-CA" dirty="0"/>
              <a:t>SBI Main Parameters 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73A0B-2068-06B2-452A-9B94A3B23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350" y="527705"/>
            <a:ext cx="5860332" cy="3125511"/>
          </a:xfrm>
          <a:prstGeom prst="rect">
            <a:avLst/>
          </a:prstGeo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1ACAC52-4C13-1B22-3CAC-43D01CF1C40E}"/>
              </a:ext>
            </a:extLst>
          </p:cNvPr>
          <p:cNvSpPr txBox="1">
            <a:spLocks/>
          </p:cNvSpPr>
          <p:nvPr/>
        </p:nvSpPr>
        <p:spPr>
          <a:xfrm>
            <a:off x="619758" y="2212848"/>
            <a:ext cx="5237577" cy="409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800" dirty="0"/>
              <a:t>Top height: Vary a lot but there are some high ones &gt; 1.5km</a:t>
            </a:r>
          </a:p>
          <a:p>
            <a:r>
              <a:rPr lang="en-CA" sz="1800" dirty="0"/>
              <a:t>Top Temp: On average we have around 250 K or around -25 C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820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4355-74B9-19EB-5F43-09F929D9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SBI parameter trends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7EED5-9124-4D5A-918A-5E07B2F95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114769"/>
            <a:ext cx="10357125" cy="31089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42B267-49D8-0161-9500-61A940AD1A56}"/>
              </a:ext>
            </a:extLst>
          </p:cNvPr>
          <p:cNvSpPr txBox="1">
            <a:spLocks/>
          </p:cNvSpPr>
          <p:nvPr/>
        </p:nvSpPr>
        <p:spPr>
          <a:xfrm>
            <a:off x="612647" y="3795252"/>
            <a:ext cx="10653579" cy="251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General trend: Depth(Z), Frequency(F), Strength(T) are increasing in FEB for both times and DEC at 12UTC and decreasing in the other ones</a:t>
            </a:r>
          </a:p>
          <a:p>
            <a:r>
              <a:rPr lang="en-CA" dirty="0"/>
              <a:t>Largest decrease in F and Z is JAN00 </a:t>
            </a:r>
          </a:p>
          <a:p>
            <a:r>
              <a:rPr lang="en-CA" dirty="0"/>
              <a:t>Largest (and in the higher end) increase in F,Z,T is FEB12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2876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E700A5-EB44-D5CA-B557-CF2C29EE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F4098-C0F1-D072-3C3C-A27B5DB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9752" y="176977"/>
            <a:ext cx="8728364" cy="9548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Diurnal diagnostic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2D176F-3324-D9E0-C3F3-EF623D533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" y="1131864"/>
            <a:ext cx="5183861" cy="276040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7DCF2F-A72B-DDAC-573D-0DF1BDFF3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8" y="3928536"/>
            <a:ext cx="5183861" cy="276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CE29E-9A8E-5CFA-0610-C7AF7277B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08" y="1131864"/>
            <a:ext cx="5017254" cy="26716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FD2F11-0A29-FF9A-20EF-BA94DAE22FF3}"/>
              </a:ext>
            </a:extLst>
          </p:cNvPr>
          <p:cNvSpPr txBox="1"/>
          <p:nvPr/>
        </p:nvSpPr>
        <p:spPr>
          <a:xfrm>
            <a:off x="5686425" y="3928536"/>
            <a:ext cx="650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Strength: Generally &gt;0 so Strength at 12UTC is larger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Depth: Generally &gt;0 so Depth at 12UTC is larger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Frequency: Oscillating but more biased for &gt;0, so generally more SBI at 12UTC than 00UTC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09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9A2B-5669-3E12-B643-8698483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1FAF85E-E405-4425-E970-EB41E866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4" y="603251"/>
            <a:ext cx="5329391" cy="783340"/>
          </a:xfrm>
        </p:spPr>
        <p:txBody>
          <a:bodyPr/>
          <a:lstStyle/>
          <a:p>
            <a:r>
              <a:rPr lang="en-CA" dirty="0"/>
              <a:t>SBI Impact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0018D2BE-CF05-92E2-2B28-CDCFD4055F72}"/>
              </a:ext>
            </a:extLst>
          </p:cNvPr>
          <p:cNvSpPr txBox="1">
            <a:spLocks/>
          </p:cNvSpPr>
          <p:nvPr/>
        </p:nvSpPr>
        <p:spPr>
          <a:xfrm>
            <a:off x="619758" y="2212848"/>
            <a:ext cx="5237577" cy="409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679F120-30BC-2B80-CF1A-D9B27E111406}"/>
              </a:ext>
            </a:extLst>
          </p:cNvPr>
          <p:cNvSpPr txBox="1">
            <a:spLocks/>
          </p:cNvSpPr>
          <p:nvPr/>
        </p:nvSpPr>
        <p:spPr>
          <a:xfrm>
            <a:off x="262492" y="1488322"/>
            <a:ext cx="11707154" cy="4991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800" dirty="0"/>
              <a:t>Definition from Noad et Al 2023</a:t>
            </a:r>
          </a:p>
          <a:p>
            <a:r>
              <a:rPr lang="en-US" sz="1800" dirty="0"/>
              <a:t>Projected Surface Air Temperature (SAT) = </a:t>
            </a:r>
            <a:r>
              <a:rPr lang="en-US" sz="1800" dirty="0" err="1"/>
              <a:t>SBI</a:t>
            </a:r>
            <a:r>
              <a:rPr lang="en-US" sz="1800" baseline="-25000" dirty="0" err="1"/>
              <a:t>depth</a:t>
            </a:r>
            <a:r>
              <a:rPr lang="en-US" sz="1800" dirty="0"/>
              <a:t> x ELR</a:t>
            </a:r>
          </a:p>
          <a:p>
            <a:r>
              <a:rPr lang="en-US" sz="1800" dirty="0" err="1"/>
              <a:t>SBI</a:t>
            </a:r>
            <a:r>
              <a:rPr lang="en-US" sz="1800" baseline="-25000" dirty="0" err="1"/>
              <a:t>Magnitude</a:t>
            </a:r>
            <a:r>
              <a:rPr lang="en-US" sz="1800" dirty="0"/>
              <a:t> = Projected SAT + </a:t>
            </a:r>
            <a:r>
              <a:rPr lang="en-US" sz="1800" dirty="0" err="1"/>
              <a:t>SBI</a:t>
            </a:r>
            <a:r>
              <a:rPr lang="en-US" sz="1800" baseline="-25000" dirty="0" err="1"/>
              <a:t>strength</a:t>
            </a:r>
            <a:endParaRPr lang="en-US" sz="1800" dirty="0"/>
          </a:p>
          <a:p>
            <a:r>
              <a:rPr lang="en-US" sz="1800" dirty="0" err="1"/>
              <a:t>SBI</a:t>
            </a:r>
            <a:r>
              <a:rPr lang="en-US" sz="1800" baseline="-25000" dirty="0" err="1"/>
              <a:t>Impact</a:t>
            </a:r>
            <a:r>
              <a:rPr lang="en-US" sz="1800" baseline="-25000" dirty="0"/>
              <a:t> = </a:t>
            </a:r>
            <a:r>
              <a:rPr lang="en-US" sz="1800" dirty="0"/>
              <a:t>(</a:t>
            </a:r>
            <a:r>
              <a:rPr lang="en-US" sz="1800" dirty="0" err="1"/>
              <a:t>SBI</a:t>
            </a:r>
            <a:r>
              <a:rPr lang="en-US" sz="1800" baseline="-25000" dirty="0" err="1"/>
              <a:t>Magnitude</a:t>
            </a:r>
            <a:r>
              <a:rPr lang="en-US" sz="1800" baseline="-25000" dirty="0"/>
              <a:t> </a:t>
            </a:r>
            <a:r>
              <a:rPr lang="en-US" sz="1800" dirty="0"/>
              <a:t>(pm) x </a:t>
            </a:r>
            <a:r>
              <a:rPr lang="en-US" sz="1800" dirty="0" err="1"/>
              <a:t>SBI</a:t>
            </a:r>
            <a:r>
              <a:rPr lang="en-US" sz="1800" baseline="-25000" dirty="0" err="1"/>
              <a:t>frequency</a:t>
            </a:r>
            <a:r>
              <a:rPr lang="en-US" sz="1800" baseline="-25000" dirty="0"/>
              <a:t> </a:t>
            </a:r>
            <a:r>
              <a:rPr lang="en-US" sz="1800" dirty="0"/>
              <a:t>(pm)+</a:t>
            </a:r>
            <a:r>
              <a:rPr lang="en-US" sz="1800" baseline="-25000" dirty="0"/>
              <a:t> </a:t>
            </a:r>
            <a:r>
              <a:rPr lang="en-US" sz="1800" dirty="0" err="1"/>
              <a:t>SBI</a:t>
            </a:r>
            <a:r>
              <a:rPr lang="en-US" sz="1800" baseline="-25000" dirty="0" err="1"/>
              <a:t>Magnitude</a:t>
            </a:r>
            <a:r>
              <a:rPr lang="en-US" sz="1800" baseline="-25000" dirty="0"/>
              <a:t> </a:t>
            </a:r>
            <a:r>
              <a:rPr lang="en-US" sz="1800" dirty="0"/>
              <a:t>(am) x </a:t>
            </a:r>
            <a:r>
              <a:rPr lang="en-US" sz="1800" dirty="0" err="1"/>
              <a:t>SBI</a:t>
            </a:r>
            <a:r>
              <a:rPr lang="en-US" sz="1800" baseline="-25000" dirty="0" err="1"/>
              <a:t>frequency</a:t>
            </a:r>
            <a:r>
              <a:rPr lang="en-US" sz="1800" baseline="-25000" dirty="0"/>
              <a:t> </a:t>
            </a:r>
            <a:r>
              <a:rPr lang="en-US" sz="1800" dirty="0"/>
              <a:t>(am))/2</a:t>
            </a:r>
          </a:p>
          <a:p>
            <a:r>
              <a:rPr lang="en-US" sz="1800" dirty="0"/>
              <a:t>SBI impact = impact on Mean Annual Air Temperature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See that this composite index is the strongest in FEB</a:t>
            </a:r>
          </a:p>
          <a:p>
            <a:pPr marL="0" indent="0">
              <a:buNone/>
            </a:pPr>
            <a:r>
              <a:rPr lang="en-US" sz="1800"/>
              <a:t>then JAN, DEC </a:t>
            </a:r>
            <a:endParaRPr lang="en-US" sz="1800" dirty="0"/>
          </a:p>
          <a:p>
            <a:endParaRPr lang="en-US" sz="1800" baseline="-25000" dirty="0"/>
          </a:p>
          <a:p>
            <a:endParaRPr lang="en-US" sz="1800" baseline="-25000" dirty="0"/>
          </a:p>
          <a:p>
            <a:pPr marL="0" indent="0">
              <a:buNone/>
            </a:pPr>
            <a:r>
              <a:rPr lang="en-US" sz="1800" baseline="-25000" dirty="0"/>
              <a:t> 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6F776D5-ACE7-A888-8AF1-713F54C79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06799"/>
            <a:ext cx="6096000" cy="325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F713-DE59-B2F2-A72F-50B7E31D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Future Investigations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B872-9569-C5D7-F933-F3D2883C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1474578" cy="4593828"/>
          </a:xfrm>
        </p:spPr>
        <p:txBody>
          <a:bodyPr/>
          <a:lstStyle/>
          <a:p>
            <a:r>
              <a:rPr lang="en-CA" dirty="0"/>
              <a:t>Obtain results for other high arctic radiosonde sites (Currently have results for 2 other sites, just need to download the raw data for the other sites of interest)</a:t>
            </a:r>
          </a:p>
          <a:p>
            <a:r>
              <a:rPr lang="en-CA" dirty="0"/>
              <a:t>Compare with ERA5 reanalysis results for each site (location = average radiosonde </a:t>
            </a:r>
            <a:r>
              <a:rPr lang="en-CA" dirty="0" err="1"/>
              <a:t>lat</a:t>
            </a:r>
            <a:r>
              <a:rPr lang="en-CA" dirty="0"/>
              <a:t> x </a:t>
            </a:r>
            <a:r>
              <a:rPr lang="en-CA" dirty="0" err="1"/>
              <a:t>lon</a:t>
            </a:r>
            <a:r>
              <a:rPr lang="en-CA" dirty="0"/>
              <a:t> from each site) to assess reliability of ERA5 data for SBI</a:t>
            </a:r>
          </a:p>
          <a:p>
            <a:r>
              <a:rPr lang="en-US" dirty="0"/>
              <a:t>If time allows, look into CMIP5 models to try to explain the results</a:t>
            </a:r>
          </a:p>
        </p:txBody>
      </p:sp>
    </p:spTree>
    <p:extLst>
      <p:ext uri="{BB962C8B-B14F-4D97-AF65-F5344CB8AC3E}">
        <p14:creationId xmlns:p14="http://schemas.microsoft.com/office/powerpoint/2010/main" val="23804287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476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Neue Haas Grotesk Text Pro</vt:lpstr>
      <vt:lpstr>Wingdings</vt:lpstr>
      <vt:lpstr>VanillaVTI</vt:lpstr>
      <vt:lpstr>SBI in Arctic Wintertime Radiosonde Data Analysis Results</vt:lpstr>
      <vt:lpstr>Site Investigated: 71082 Alert UA, NU, CA Latitude: 82.493 Longitude: -62.344 00UTC = 8PM local 12UTC = 8AM local Close to theoretical max SBI time of 6AM</vt:lpstr>
      <vt:lpstr>SBI Main Parameters 1</vt:lpstr>
      <vt:lpstr>SBI Main Parameters 2</vt:lpstr>
      <vt:lpstr>SBI Main Parameters 3</vt:lpstr>
      <vt:lpstr>SBI parameter trends</vt:lpstr>
      <vt:lpstr>Diurnal diagnostic</vt:lpstr>
      <vt:lpstr>SBI Impact</vt:lpstr>
      <vt:lpstr>Future Investigations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Defeng Lu</dc:creator>
  <cp:lastModifiedBy>Defeng Lu</cp:lastModifiedBy>
  <cp:revision>4</cp:revision>
  <dcterms:created xsi:type="dcterms:W3CDTF">2026-07-30T13:19:02Z</dcterms:created>
  <dcterms:modified xsi:type="dcterms:W3CDTF">2026-07-30T15:44:32Z</dcterms:modified>
</cp:coreProperties>
</file>